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8" r:id="rId4"/>
    <p:sldId id="257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Alexandria" panose="020B0604020202020204" charset="-78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Nobil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91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508A-685C-F6E5-73A6-67A93370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11789-BF65-D478-75C8-E039FDE1F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8CD1B-6CC2-7058-AB35-349620624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974EF-B665-F4BF-BD6D-358E79146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3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FB11-E739-2366-A8A4-B13EC57E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365DC-105D-DC41-4ABF-77021674E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57EEA-DBF4-4F6D-483D-5DB01BF58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A7A6B-8483-E073-4E36-5D4D241C7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0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B616-5E40-ABE8-EEFB-56922C2A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8C817-A235-F2A2-57F0-CAF29C24D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736A0-FE05-5642-F902-5FB63FA30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6D067-920B-F0A6-49EC-E39145FDB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99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27835" y="5054488"/>
            <a:ext cx="2978468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1427835" y="5054488"/>
            <a:ext cx="27062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CSE DEPARTMENT · 2025–2026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6454" y="11389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Network Intrusion Detection System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916454" y="3515159"/>
            <a:ext cx="53282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Machine Learning–Based Cybersecurity Solution for Real-Time Attack Classification and Threat Monitoring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71D68-720B-D20D-F669-6D0E521EBAC8}"/>
              </a:ext>
            </a:extLst>
          </p:cNvPr>
          <p:cNvSpPr/>
          <p:nvPr/>
        </p:nvSpPr>
        <p:spPr>
          <a:xfrm>
            <a:off x="6244683" y="577822"/>
            <a:ext cx="8089746" cy="636368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D49F-BCA8-9969-2129-7F367169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2AA3488-EB8C-228B-B4F1-A819C52C3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8A1E368-9807-5D61-774E-10EF96B1D671}"/>
              </a:ext>
            </a:extLst>
          </p:cNvPr>
          <p:cNvSpPr/>
          <p:nvPr/>
        </p:nvSpPr>
        <p:spPr>
          <a:xfrm>
            <a:off x="793790" y="31314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Network Intrusion Detection System</a:t>
            </a:r>
            <a:endParaRPr lang="en-US" sz="4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30F04B8-9AA8-4EA3-8B1E-8ECA3219870E}"/>
              </a:ext>
            </a:extLst>
          </p:cNvPr>
          <p:cNvSpPr/>
          <p:nvPr/>
        </p:nvSpPr>
        <p:spPr>
          <a:xfrm>
            <a:off x="793790" y="48891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Machine Learning–Based Cybersecurity Solution for Real-Time Attack Classification and Threat Monitoring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62340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7BFC-67C5-0E39-ED4F-6F67EFA8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DB9B2DE7-A986-DB35-A904-E470B90D3012}"/>
              </a:ext>
            </a:extLst>
          </p:cNvPr>
          <p:cNvSpPr/>
          <p:nvPr/>
        </p:nvSpPr>
        <p:spPr>
          <a:xfrm>
            <a:off x="793790" y="95697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Network Intrusion Detection System</a:t>
            </a:r>
            <a:endParaRPr lang="en-US" sz="4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7AAB7AB-2F0E-873C-F1BB-7CBC274F4BC9}"/>
              </a:ext>
            </a:extLst>
          </p:cNvPr>
          <p:cNvSpPr/>
          <p:nvPr/>
        </p:nvSpPr>
        <p:spPr>
          <a:xfrm>
            <a:off x="793790" y="30310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What is Network Intrusion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EA5F7-8730-47C4-FFE5-107C25360DA0}"/>
              </a:ext>
            </a:extLst>
          </p:cNvPr>
          <p:cNvSpPr txBox="1"/>
          <p:nvPr/>
        </p:nvSpPr>
        <p:spPr>
          <a:xfrm>
            <a:off x="793790" y="3885572"/>
            <a:ext cx="63095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b="1" dirty="0"/>
            </a:br>
            <a:r>
              <a:rPr lang="en-US" b="1" dirty="0"/>
              <a:t>Monitors Network Traffic</a:t>
            </a:r>
          </a:p>
          <a:p>
            <a:r>
              <a:rPr lang="en-US" dirty="0"/>
              <a:t>Continuously captures and analyzes incoming and outgoing packets.</a:t>
            </a:r>
          </a:p>
          <a:p>
            <a:r>
              <a:rPr lang="en-US" b="1" dirty="0"/>
              <a:t>Detects Malicious Activities</a:t>
            </a:r>
          </a:p>
          <a:p>
            <a:r>
              <a:rPr lang="en-US" dirty="0"/>
              <a:t>Identifies anomalies, unauthorized access attempts, and policy violations.</a:t>
            </a:r>
          </a:p>
          <a:p>
            <a:r>
              <a:rPr lang="en-US" b="1" dirty="0"/>
              <a:t>Classifies Attacks</a:t>
            </a:r>
          </a:p>
          <a:p>
            <a:r>
              <a:rPr lang="en-US" dirty="0"/>
              <a:t>Categorizes threats into specific types like DoS, Probe, U2R, and R2L.</a:t>
            </a:r>
          </a:p>
          <a:p>
            <a:r>
              <a:rPr lang="en-US" b="1" dirty="0"/>
              <a:t>Protects Organizational Data</a:t>
            </a:r>
          </a:p>
          <a:p>
            <a:r>
              <a:rPr lang="en-US" dirty="0"/>
              <a:t>Safeguards critical assets by providing early warning of breaches.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F3BB2-84DC-9C3C-BE48-FE663BF67D58}"/>
              </a:ext>
            </a:extLst>
          </p:cNvPr>
          <p:cNvSpPr txBox="1"/>
          <p:nvPr/>
        </p:nvSpPr>
        <p:spPr>
          <a:xfrm>
            <a:off x="8028878" y="4270917"/>
            <a:ext cx="55533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Machine Learning?</a:t>
            </a:r>
          </a:p>
          <a:p>
            <a:r>
              <a:rPr lang="en-US" b="1" cap="all" dirty="0"/>
              <a:t>Traditional Limitation</a:t>
            </a:r>
          </a:p>
          <a:p>
            <a:r>
              <a:rPr lang="en-US" dirty="0"/>
              <a:t>Signature-based systems fail to detect </a:t>
            </a:r>
            <a:r>
              <a:rPr lang="en-US" b="1" dirty="0"/>
              <a:t>Zero-Day Attacks</a:t>
            </a:r>
            <a:r>
              <a:rPr lang="en-US" dirty="0"/>
              <a:t> (unknown threats) and struggle with high false positive rates.</a:t>
            </a:r>
          </a:p>
          <a:p>
            <a:r>
              <a:rPr lang="en-US" b="1" cap="all" dirty="0"/>
              <a:t>ML Advantage</a:t>
            </a:r>
          </a:p>
          <a:p>
            <a:r>
              <a:rPr lang="en-US" dirty="0"/>
              <a:t>ML-based systems learn complex patterns, significantly improving </a:t>
            </a:r>
            <a:r>
              <a:rPr lang="en-US" b="1" dirty="0"/>
              <a:t>detection accuracy</a:t>
            </a:r>
            <a:r>
              <a:rPr lang="en-US" dirty="0"/>
              <a:t> and adaptability to new attack vectors.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5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5182" y="1551027"/>
            <a:ext cx="6730484" cy="451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Is Network Intrusion Detection?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5182" y="2222421"/>
            <a:ext cx="7754898" cy="217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Network Intrusion Detection System (NIDS)</a:t>
            </a: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continuously monitors network traffic to identify, classify, and respond to malicious activity — before damage is done. Traditional signature-based </a:t>
            </a:r>
            <a:r>
              <a:rPr lang="en-US" baseline="-250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systems</a:t>
            </a: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struggle with novel, unknown threats.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E2CFF3-DC4D-AD9B-1B1B-43E637D0AB40}"/>
              </a:ext>
            </a:extLst>
          </p:cNvPr>
          <p:cNvGrpSpPr/>
          <p:nvPr/>
        </p:nvGrpSpPr>
        <p:grpSpPr>
          <a:xfrm>
            <a:off x="793948" y="4750295"/>
            <a:ext cx="7405172" cy="1928277"/>
            <a:chOff x="505182" y="3269933"/>
            <a:chExt cx="3890724" cy="849154"/>
          </a:xfrm>
        </p:grpSpPr>
        <p:sp>
          <p:nvSpPr>
            <p:cNvPr id="5" name="Shape 2"/>
            <p:cNvSpPr/>
            <p:nvPr/>
          </p:nvSpPr>
          <p:spPr>
            <a:xfrm>
              <a:off x="505182" y="3269933"/>
              <a:ext cx="3890724" cy="849154"/>
            </a:xfrm>
            <a:prstGeom prst="roundRect">
              <a:avLst>
                <a:gd name="adj" fmla="val 7140"/>
              </a:avLst>
            </a:prstGeom>
            <a:solidFill>
              <a:srgbClr val="BBCDF7"/>
            </a:solidFill>
            <a:ln/>
          </p:spPr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486" y="3453527"/>
              <a:ext cx="180380" cy="144304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974169" y="3397806"/>
              <a:ext cx="3277433" cy="56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ML-based IDS learns from patterns, enabling detection of zero-day attacks that rule-based systems routinely miss.</a:t>
              </a:r>
              <a:endParaRPr lang="en-US" sz="1100" dirty="0"/>
            </a:p>
          </p:txBody>
        </p:sp>
      </p:grpSp>
      <p:sp>
        <p:nvSpPr>
          <p:cNvPr id="9" name="Shape 5"/>
          <p:cNvSpPr/>
          <p:nvPr/>
        </p:nvSpPr>
        <p:spPr>
          <a:xfrm>
            <a:off x="8900993" y="2034302"/>
            <a:ext cx="60960" cy="1014174"/>
          </a:xfrm>
          <a:prstGeom prst="roundRect">
            <a:avLst>
              <a:gd name="adj" fmla="val 99459"/>
            </a:avLst>
          </a:prstGeom>
          <a:solidFill>
            <a:srgbClr val="1B54DA"/>
          </a:solidFill>
          <a:ln/>
        </p:spPr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34708E-12F6-7155-6CAE-620FF57A11C1}"/>
              </a:ext>
            </a:extLst>
          </p:cNvPr>
          <p:cNvGrpSpPr/>
          <p:nvPr/>
        </p:nvGrpSpPr>
        <p:grpSpPr>
          <a:xfrm>
            <a:off x="8961953" y="1948756"/>
            <a:ext cx="3905964" cy="4332088"/>
            <a:chOff x="4740473" y="2243138"/>
            <a:chExt cx="3905964" cy="4332088"/>
          </a:xfrm>
        </p:grpSpPr>
        <p:sp>
          <p:nvSpPr>
            <p:cNvPr id="12" name="Shape 8"/>
            <p:cNvSpPr/>
            <p:nvPr/>
          </p:nvSpPr>
          <p:spPr>
            <a:xfrm>
              <a:off x="4755713" y="3349109"/>
              <a:ext cx="3890724" cy="1014174"/>
            </a:xfrm>
            <a:prstGeom prst="roundRect">
              <a:avLst>
                <a:gd name="adj" fmla="val 7213"/>
              </a:avLst>
            </a:prstGeom>
            <a:solidFill>
              <a:srgbClr val="F9F9FF"/>
            </a:solidFill>
            <a:ln w="15240">
              <a:solidFill>
                <a:srgbClr val="B8C3DF"/>
              </a:solidFill>
              <a:prstDash val="solid"/>
            </a:ln>
          </p:spPr>
        </p:sp>
        <p:sp>
          <p:nvSpPr>
            <p:cNvPr id="13" name="Shape 9"/>
            <p:cNvSpPr/>
            <p:nvPr/>
          </p:nvSpPr>
          <p:spPr>
            <a:xfrm>
              <a:off x="4740473" y="3349109"/>
              <a:ext cx="60960" cy="1014174"/>
            </a:xfrm>
            <a:prstGeom prst="roundRect">
              <a:avLst>
                <a:gd name="adj" fmla="val 99459"/>
              </a:avLst>
            </a:prstGeom>
            <a:solidFill>
              <a:srgbClr val="1B54DA"/>
            </a:solidFill>
            <a:ln/>
          </p:spPr>
        </p:sp>
        <p:sp>
          <p:nvSpPr>
            <p:cNvPr id="17" name="Shape 13"/>
            <p:cNvSpPr/>
            <p:nvPr/>
          </p:nvSpPr>
          <p:spPr>
            <a:xfrm>
              <a:off x="4740473" y="4455081"/>
              <a:ext cx="60960" cy="1014174"/>
            </a:xfrm>
            <a:prstGeom prst="roundRect">
              <a:avLst>
                <a:gd name="adj" fmla="val 99459"/>
              </a:avLst>
            </a:prstGeom>
            <a:solidFill>
              <a:srgbClr val="1B54DA"/>
            </a:solidFill>
            <a:ln/>
          </p:spPr>
        </p:sp>
        <p:sp>
          <p:nvSpPr>
            <p:cNvPr id="21" name="Shape 17"/>
            <p:cNvSpPr/>
            <p:nvPr/>
          </p:nvSpPr>
          <p:spPr>
            <a:xfrm>
              <a:off x="4740473" y="5561052"/>
              <a:ext cx="60960" cy="1014174"/>
            </a:xfrm>
            <a:prstGeom prst="roundRect">
              <a:avLst>
                <a:gd name="adj" fmla="val 99459"/>
              </a:avLst>
            </a:prstGeom>
            <a:solidFill>
              <a:srgbClr val="1B54DA"/>
            </a:solidFill>
            <a:ln/>
          </p:spPr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1655E0-F7D4-3755-A215-6317577A8395}"/>
                </a:ext>
              </a:extLst>
            </p:cNvPr>
            <p:cNvGrpSpPr/>
            <p:nvPr/>
          </p:nvGrpSpPr>
          <p:grpSpPr>
            <a:xfrm>
              <a:off x="4755713" y="2243138"/>
              <a:ext cx="3890724" cy="4332088"/>
              <a:chOff x="4755713" y="2243138"/>
              <a:chExt cx="3890724" cy="4332088"/>
            </a:xfrm>
          </p:grpSpPr>
          <p:sp>
            <p:nvSpPr>
              <p:cNvPr id="8" name="Shape 4"/>
              <p:cNvSpPr/>
              <p:nvPr/>
            </p:nvSpPr>
            <p:spPr>
              <a:xfrm>
                <a:off x="4755713" y="2243138"/>
                <a:ext cx="3890724" cy="1014174"/>
              </a:xfrm>
              <a:prstGeom prst="roundRect">
                <a:avLst>
                  <a:gd name="adj" fmla="val 7213"/>
                </a:avLst>
              </a:prstGeom>
              <a:solidFill>
                <a:srgbClr val="F9F9FF"/>
              </a:solidFill>
              <a:ln w="15240">
                <a:solidFill>
                  <a:srgbClr val="B8C3DF"/>
                </a:solidFill>
                <a:prstDash val="solid"/>
              </a:ln>
            </p:spPr>
          </p:sp>
          <p:sp>
            <p:nvSpPr>
              <p:cNvPr id="10" name="Text 6"/>
              <p:cNvSpPr/>
              <p:nvPr/>
            </p:nvSpPr>
            <p:spPr>
              <a:xfrm>
                <a:off x="4960977" y="2402681"/>
                <a:ext cx="1804392" cy="2256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400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  <a:cs typeface="Alexandria" pitchFamily="34" charset="-120"/>
                  </a:rPr>
                  <a:t>Monitor</a:t>
                </a:r>
                <a:endParaRPr lang="en-US" sz="1400" dirty="0"/>
              </a:p>
            </p:txBody>
          </p:sp>
          <p:sp>
            <p:nvSpPr>
              <p:cNvPr id="11" name="Text 7"/>
              <p:cNvSpPr/>
              <p:nvPr/>
            </p:nvSpPr>
            <p:spPr>
              <a:xfrm>
                <a:off x="4960977" y="2720102"/>
                <a:ext cx="3525917" cy="3776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50"/>
                  </a:lnSpc>
                  <a:buNone/>
                </a:pPr>
                <a:r>
                  <a:rPr lang="en-US" sz="11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Continuous analysis of inbound and outbound network traffic</a:t>
                </a:r>
                <a:endParaRPr lang="en-US" sz="1100" dirty="0"/>
              </a:p>
            </p:txBody>
          </p:sp>
          <p:sp>
            <p:nvSpPr>
              <p:cNvPr id="14" name="Text 10"/>
              <p:cNvSpPr/>
              <p:nvPr/>
            </p:nvSpPr>
            <p:spPr>
              <a:xfrm>
                <a:off x="4960977" y="3508653"/>
                <a:ext cx="1804392" cy="2256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400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  <a:cs typeface="Alexandria" pitchFamily="34" charset="-120"/>
                  </a:rPr>
                  <a:t>Detect</a:t>
                </a:r>
                <a:endParaRPr lang="en-US" sz="1400" dirty="0"/>
              </a:p>
            </p:txBody>
          </p:sp>
          <p:sp>
            <p:nvSpPr>
              <p:cNvPr id="15" name="Text 11"/>
              <p:cNvSpPr/>
              <p:nvPr/>
            </p:nvSpPr>
            <p:spPr>
              <a:xfrm>
                <a:off x="4960977" y="3826073"/>
                <a:ext cx="3525917" cy="3776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50"/>
                  </a:lnSpc>
                  <a:buNone/>
                </a:pPr>
                <a:r>
                  <a:rPr lang="en-US" sz="11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Identify anomalies and known attack signatures in real time</a:t>
                </a:r>
                <a:endParaRPr lang="en-US" sz="1100" dirty="0"/>
              </a:p>
            </p:txBody>
          </p:sp>
          <p:sp>
            <p:nvSpPr>
              <p:cNvPr id="16" name="Shape 12"/>
              <p:cNvSpPr/>
              <p:nvPr/>
            </p:nvSpPr>
            <p:spPr>
              <a:xfrm>
                <a:off x="4755713" y="4455081"/>
                <a:ext cx="3890724" cy="1014174"/>
              </a:xfrm>
              <a:prstGeom prst="roundRect">
                <a:avLst>
                  <a:gd name="adj" fmla="val 7213"/>
                </a:avLst>
              </a:prstGeom>
              <a:solidFill>
                <a:srgbClr val="F9F9FF"/>
              </a:solidFill>
              <a:ln w="15240">
                <a:solidFill>
                  <a:srgbClr val="B8C3DF"/>
                </a:solidFill>
                <a:prstDash val="solid"/>
              </a:ln>
            </p:spPr>
          </p:sp>
          <p:sp>
            <p:nvSpPr>
              <p:cNvPr id="18" name="Text 14"/>
              <p:cNvSpPr/>
              <p:nvPr/>
            </p:nvSpPr>
            <p:spPr>
              <a:xfrm>
                <a:off x="4960977" y="4614624"/>
                <a:ext cx="1804392" cy="2256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400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  <a:cs typeface="Alexandria" pitchFamily="34" charset="-120"/>
                  </a:rPr>
                  <a:t>Classify</a:t>
                </a:r>
                <a:endParaRPr lang="en-US" sz="1400" dirty="0"/>
              </a:p>
            </p:txBody>
          </p:sp>
          <p:sp>
            <p:nvSpPr>
              <p:cNvPr id="19" name="Text 15"/>
              <p:cNvSpPr/>
              <p:nvPr/>
            </p:nvSpPr>
            <p:spPr>
              <a:xfrm>
                <a:off x="4960977" y="4932045"/>
                <a:ext cx="3525917" cy="3776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50"/>
                  </a:lnSpc>
                  <a:buNone/>
                </a:pPr>
                <a:r>
                  <a:rPr lang="en-US" sz="11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Categorize threats by type for targeted incident response</a:t>
                </a:r>
                <a:endParaRPr lang="en-US" sz="1100" dirty="0"/>
              </a:p>
            </p:txBody>
          </p:sp>
          <p:sp>
            <p:nvSpPr>
              <p:cNvPr id="20" name="Shape 16"/>
              <p:cNvSpPr/>
              <p:nvPr/>
            </p:nvSpPr>
            <p:spPr>
              <a:xfrm>
                <a:off x="4755713" y="5561052"/>
                <a:ext cx="3890724" cy="1014174"/>
              </a:xfrm>
              <a:prstGeom prst="roundRect">
                <a:avLst>
                  <a:gd name="adj" fmla="val 7213"/>
                </a:avLst>
              </a:prstGeom>
              <a:solidFill>
                <a:srgbClr val="F9F9FF"/>
              </a:solidFill>
              <a:ln w="15240">
                <a:solidFill>
                  <a:srgbClr val="B8C3DF"/>
                </a:solidFill>
                <a:prstDash val="solid"/>
              </a:ln>
            </p:spPr>
          </p:sp>
          <p:sp>
            <p:nvSpPr>
              <p:cNvPr id="22" name="Text 18"/>
              <p:cNvSpPr/>
              <p:nvPr/>
            </p:nvSpPr>
            <p:spPr>
              <a:xfrm>
                <a:off x="4960977" y="5720596"/>
                <a:ext cx="1804392" cy="2256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50"/>
                  </a:lnSpc>
                  <a:buNone/>
                </a:pPr>
                <a:r>
                  <a:rPr lang="en-US" sz="1400" dirty="0">
                    <a:solidFill>
                      <a:srgbClr val="404155"/>
                    </a:solidFill>
                    <a:latin typeface="Alexandria" pitchFamily="34" charset="0"/>
                    <a:ea typeface="Alexandria" pitchFamily="34" charset="-122"/>
                    <a:cs typeface="Alexandria" pitchFamily="34" charset="-120"/>
                  </a:rPr>
                  <a:t>Protect</a:t>
                </a:r>
                <a:endParaRPr lang="en-US" sz="1400" dirty="0"/>
              </a:p>
            </p:txBody>
          </p:sp>
          <p:sp>
            <p:nvSpPr>
              <p:cNvPr id="23" name="Text 19"/>
              <p:cNvSpPr/>
              <p:nvPr/>
            </p:nvSpPr>
            <p:spPr>
              <a:xfrm>
                <a:off x="4960977" y="6038017"/>
                <a:ext cx="3525917" cy="3776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50"/>
                  </a:lnSpc>
                  <a:buNone/>
                </a:pPr>
                <a:r>
                  <a:rPr lang="en-US" sz="1100" dirty="0">
                    <a:solidFill>
                      <a:srgbClr val="404155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Safeguard organizational data and critical infrastructure</a:t>
                </a:r>
                <a:endParaRPr lang="en-US" sz="1100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18A3-6979-32B6-FDAD-DC1FF0B6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55AAE35-3B3C-471B-EF69-4C65B2EB13E3}"/>
              </a:ext>
            </a:extLst>
          </p:cNvPr>
          <p:cNvSpPr/>
          <p:nvPr/>
        </p:nvSpPr>
        <p:spPr>
          <a:xfrm>
            <a:off x="314960" y="375920"/>
            <a:ext cx="13980160" cy="70510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0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4425" y="1062157"/>
            <a:ext cx="4493181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14425" y="1908572"/>
            <a:ext cx="1240143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intrusion detection approaches suffer from critical gaps that leave networks exposed to modern, adaptive threats.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4425" y="2326481"/>
            <a:ext cx="6129457" cy="1937742"/>
          </a:xfrm>
          <a:prstGeom prst="roundRect">
            <a:avLst>
              <a:gd name="adj" fmla="val 389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1710" y="2513767"/>
            <a:ext cx="539115" cy="539115"/>
          </a:xfrm>
          <a:prstGeom prst="roundRect">
            <a:avLst>
              <a:gd name="adj" fmla="val 16959435"/>
            </a:avLst>
          </a:prstGeom>
          <a:solidFill>
            <a:srgbClr val="1B54D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9943" y="2661999"/>
            <a:ext cx="242530" cy="242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1710" y="3195280"/>
            <a:ext cx="2246590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Unknown Attacks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301710" y="3561398"/>
            <a:ext cx="575488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Signature-based systems cannot detect zero-day or novel attack variants not present in their rule sets.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86280" y="2326481"/>
            <a:ext cx="6129576" cy="1937742"/>
          </a:xfrm>
          <a:prstGeom prst="roundRect">
            <a:avLst>
              <a:gd name="adj" fmla="val 389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3566" y="2513767"/>
            <a:ext cx="539115" cy="539115"/>
          </a:xfrm>
          <a:prstGeom prst="roundRect">
            <a:avLst>
              <a:gd name="adj" fmla="val 16959435"/>
            </a:avLst>
          </a:prstGeom>
          <a:solidFill>
            <a:srgbClr val="1B54D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1798" y="2661999"/>
            <a:ext cx="242530" cy="242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3566" y="3195280"/>
            <a:ext cx="265926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 False Positive Rate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73566" y="3561398"/>
            <a:ext cx="575500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Excessive false alarms cause alert fatigue, reducing analyst responsiveness to genuine threats.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14425" y="4406622"/>
            <a:ext cx="6129457" cy="1937742"/>
          </a:xfrm>
          <a:prstGeom prst="roundRect">
            <a:avLst>
              <a:gd name="adj" fmla="val 389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01710" y="4593908"/>
            <a:ext cx="539115" cy="539115"/>
          </a:xfrm>
          <a:prstGeom prst="roundRect">
            <a:avLst>
              <a:gd name="adj" fmla="val 16959435"/>
            </a:avLst>
          </a:prstGeom>
          <a:solidFill>
            <a:srgbClr val="1B54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9943" y="4742140"/>
            <a:ext cx="242530" cy="242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1710" y="5275421"/>
            <a:ext cx="240006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Manual Rule Updates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301710" y="5641538"/>
            <a:ext cx="575488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Rule databases require constant expert maintenance, creating costly operational overhead.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86280" y="4406622"/>
            <a:ext cx="6129576" cy="1937742"/>
          </a:xfrm>
          <a:prstGeom prst="roundRect">
            <a:avLst>
              <a:gd name="adj" fmla="val 3896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73566" y="4593908"/>
            <a:ext cx="539115" cy="539115"/>
          </a:xfrm>
          <a:prstGeom prst="roundRect">
            <a:avLst>
              <a:gd name="adj" fmla="val 16959435"/>
            </a:avLst>
          </a:prstGeom>
          <a:solidFill>
            <a:srgbClr val="1B54D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1798" y="4742140"/>
            <a:ext cx="242530" cy="242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3566" y="5275421"/>
            <a:ext cx="2246590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Poor Visualization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573566" y="5641538"/>
            <a:ext cx="575500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Legacy tools lack actionable dashboards, hampering timely forensic investigation.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114425" y="6504503"/>
            <a:ext cx="12401431" cy="662940"/>
          </a:xfrm>
          <a:prstGeom prst="roundRect">
            <a:avLst>
              <a:gd name="adj" fmla="val 11387"/>
            </a:avLst>
          </a:prstGeom>
          <a:solidFill>
            <a:srgbClr val="BBCDF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4090" y="6747034"/>
            <a:ext cx="224552" cy="1796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8308" y="6691789"/>
            <a:ext cx="1163788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Need: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 intelligent, real-time system capable of autonomous learning, accurate classification, and intuitive threat visualization.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" y="1129791"/>
            <a:ext cx="7861737" cy="65054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98491" y="1311288"/>
            <a:ext cx="1076920" cy="178237"/>
          </a:xfrm>
          <a:prstGeom prst="roundRect">
            <a:avLst>
              <a:gd name="adj" fmla="val 21540"/>
            </a:avLst>
          </a:prstGeom>
          <a:solidFill>
            <a:srgbClr val="D2DDF9"/>
          </a:solidFill>
          <a:ln/>
        </p:spPr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D65367-694B-674B-2FEA-6E2B368FEDC5}"/>
              </a:ext>
            </a:extLst>
          </p:cNvPr>
          <p:cNvGrpSpPr/>
          <p:nvPr/>
        </p:nvGrpSpPr>
        <p:grpSpPr>
          <a:xfrm>
            <a:off x="8686443" y="1554241"/>
            <a:ext cx="5060037" cy="6080997"/>
            <a:chOff x="8686443" y="1387197"/>
            <a:chExt cx="2578179" cy="5403652"/>
          </a:xfrm>
        </p:grpSpPr>
        <p:sp>
          <p:nvSpPr>
            <p:cNvPr id="4" name="Text 1"/>
            <p:cNvSpPr/>
            <p:nvPr/>
          </p:nvSpPr>
          <p:spPr>
            <a:xfrm>
              <a:off x="8754904" y="1387197"/>
              <a:ext cx="939998" cy="1098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850"/>
                </a:lnSpc>
                <a:buNone/>
              </a:pPr>
              <a:r>
                <a:rPr lang="en-US" sz="7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PROJECT OBJECTIVES</a:t>
              </a:r>
              <a:endParaRPr lang="en-US" sz="7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686443" y="1554242"/>
              <a:ext cx="2578179" cy="713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00" dirty="0">
                  <a:solidFill>
                    <a:srgbClr val="1B1B27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What We Set Out to Build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686443" y="2332792"/>
              <a:ext cx="114181" cy="142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Alexandria Light" pitchFamily="34" charset="0"/>
                  <a:ea typeface="Alexandria Light" pitchFamily="34" charset="-122"/>
                  <a:cs typeface="Alexandria Light" pitchFamily="34" charset="-120"/>
                </a:rPr>
                <a:t>01</a:t>
              </a:r>
              <a:endParaRPr lang="en-US" sz="85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8686443" y="2511504"/>
              <a:ext cx="2578179" cy="15240"/>
            </a:xfrm>
            <a:prstGeom prst="rect">
              <a:avLst/>
            </a:prstGeom>
            <a:solidFill>
              <a:srgbClr val="1B54DA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8686443" y="2599015"/>
              <a:ext cx="1428155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ML-Based IDS</a:t>
              </a:r>
              <a:endParaRPr lang="en-US" sz="11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686443" y="2835116"/>
              <a:ext cx="2578179" cy="274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Design and implement an end-to-end intrusion detection pipeline driven by machine learning</a:t>
              </a:r>
              <a:endParaRPr lang="en-US" sz="8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8686443" y="3253026"/>
              <a:ext cx="114181" cy="142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Alexandria Light" pitchFamily="34" charset="0"/>
                  <a:ea typeface="Alexandria Light" pitchFamily="34" charset="-122"/>
                  <a:cs typeface="Alexandria Light" pitchFamily="34" charset="-120"/>
                </a:rPr>
                <a:t>02</a:t>
              </a:r>
              <a:endParaRPr lang="en-US" sz="85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8686443" y="3431738"/>
              <a:ext cx="2578179" cy="15240"/>
            </a:xfrm>
            <a:prstGeom prst="rect">
              <a:avLst/>
            </a:prstGeom>
            <a:solidFill>
              <a:srgbClr val="1B54DA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8686443" y="3519249"/>
              <a:ext cx="1566386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&gt;95% Accuracy Target</a:t>
              </a:r>
              <a:endParaRPr lang="en-US" sz="1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8686443" y="3755350"/>
              <a:ext cx="2578179" cy="274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Achieve accuracy exceeding 95% across all attack classes on the NSL-KDD benchmark</a:t>
              </a:r>
              <a:endParaRPr lang="en-US" sz="8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8686443" y="4173260"/>
              <a:ext cx="114181" cy="142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Alexandria Light" pitchFamily="34" charset="0"/>
                  <a:ea typeface="Alexandria Light" pitchFamily="34" charset="-122"/>
                  <a:cs typeface="Alexandria Light" pitchFamily="34" charset="-120"/>
                </a:rPr>
                <a:t>03</a:t>
              </a:r>
              <a:endParaRPr lang="en-US" sz="85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8686443" y="4351973"/>
              <a:ext cx="2578179" cy="15240"/>
            </a:xfrm>
            <a:prstGeom prst="rect">
              <a:avLst/>
            </a:prstGeom>
            <a:solidFill>
              <a:srgbClr val="1B54DA"/>
            </a:solidFill>
            <a:ln/>
          </p:spPr>
        </p:sp>
        <p:sp>
          <p:nvSpPr>
            <p:cNvPr id="16" name="Text 13"/>
            <p:cNvSpPr/>
            <p:nvPr/>
          </p:nvSpPr>
          <p:spPr>
            <a:xfrm>
              <a:off x="8686443" y="4439483"/>
              <a:ext cx="1709857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Minimize False Positives</a:t>
              </a:r>
              <a:endParaRPr lang="en-US" sz="11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686443" y="4675584"/>
              <a:ext cx="2578179" cy="274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Drive false positive rate below 2% to ensure operational reliability</a:t>
              </a:r>
              <a:endParaRPr lang="en-US" sz="8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8686443" y="5093494"/>
              <a:ext cx="114181" cy="142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Alexandria Light" pitchFamily="34" charset="0"/>
                  <a:ea typeface="Alexandria Light" pitchFamily="34" charset="-122"/>
                  <a:cs typeface="Alexandria Light" pitchFamily="34" charset="-120"/>
                </a:rPr>
                <a:t>04</a:t>
              </a:r>
              <a:endParaRPr lang="en-US" sz="85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8686443" y="5272207"/>
              <a:ext cx="2578179" cy="15240"/>
            </a:xfrm>
            <a:prstGeom prst="rect">
              <a:avLst/>
            </a:prstGeom>
            <a:solidFill>
              <a:srgbClr val="1B54DA"/>
            </a:solidFill>
            <a:ln/>
          </p:spPr>
        </p:sp>
        <p:sp>
          <p:nvSpPr>
            <p:cNvPr id="20" name="Text 17"/>
            <p:cNvSpPr/>
            <p:nvPr/>
          </p:nvSpPr>
          <p:spPr>
            <a:xfrm>
              <a:off x="8686443" y="5359717"/>
              <a:ext cx="1584603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Compare 5 ML Models</a:t>
              </a:r>
              <a:endParaRPr lang="en-US" sz="11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8686443" y="5595818"/>
              <a:ext cx="2578179" cy="274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Benchmark Random Forest, SVM, Neural Network, Logistic Regression, and Naive Bayes</a:t>
              </a:r>
              <a:endParaRPr lang="en-US" sz="8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8686443" y="6013728"/>
              <a:ext cx="114181" cy="142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Alexandria Light" pitchFamily="34" charset="0"/>
                  <a:ea typeface="Alexandria Light" pitchFamily="34" charset="-122"/>
                  <a:cs typeface="Alexandria Light" pitchFamily="34" charset="-120"/>
                </a:rPr>
                <a:t>05</a:t>
              </a:r>
              <a:endParaRPr lang="en-US" sz="85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8686443" y="6192441"/>
              <a:ext cx="2578179" cy="15240"/>
            </a:xfrm>
            <a:prstGeom prst="rect">
              <a:avLst/>
            </a:prstGeom>
            <a:solidFill>
              <a:srgbClr val="1B54DA"/>
            </a:solidFill>
            <a:ln/>
          </p:spPr>
        </p:sp>
        <p:sp>
          <p:nvSpPr>
            <p:cNvPr id="24" name="Text 21"/>
            <p:cNvSpPr/>
            <p:nvPr/>
          </p:nvSpPr>
          <p:spPr>
            <a:xfrm>
              <a:off x="8686443" y="6279952"/>
              <a:ext cx="1540550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Real-Time Dashboard</a:t>
              </a:r>
              <a:endParaRPr lang="en-US" sz="11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8686443" y="6516053"/>
              <a:ext cx="2578179" cy="274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85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Deliver a production-ready React frontend with live threat monitoring and alerts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358"/>
            <a:ext cx="7783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&amp; Attack Taxonomy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27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NSL-KDD dataset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serves as the benchmark — a refined version of KDD Cup 1999 that eliminates duplicate records for more reliable model evaluation.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1706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125K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4248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321706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22.5K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248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Test Records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21706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41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7563326" y="4248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Input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321706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894933" y="4248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Output Classes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4858345"/>
            <a:ext cx="3090505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92779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83198"/>
            <a:ext cx="26216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Denial of Service — overwhelms resources to deny legitimate access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4111109" y="4858345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5543" y="509277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45543" y="5583198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Network scanning to map vulnerabilities and open ports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58345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982" y="509277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R2L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62982" y="5583198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Remote to Local — unauthorized access from a remote machine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0745986" y="4858345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80420" y="509277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U2R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80420" y="5583198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to Root — privilege escalation to gain admin control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307" y="628055"/>
            <a:ext cx="4558665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4307" y="1472684"/>
            <a:ext cx="12381786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six-stage pipeline transforms raw network packets into classified alerts displayed on a live web dashboard.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266" y="1889403"/>
            <a:ext cx="12279749" cy="5295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01572" y="6180519"/>
            <a:ext cx="2872916" cy="34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Classification Engine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01572" y="4954742"/>
            <a:ext cx="2785858" cy="34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Training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01572" y="3741346"/>
            <a:ext cx="2820488" cy="34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01572" y="2515569"/>
            <a:ext cx="2785858" cy="34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 Data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124307" y="7344370"/>
            <a:ext cx="12381786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stage is modular and independently replaceable, allowing new models or data sources to be integrated without redesigning the full system.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9690" y="1331476"/>
            <a:ext cx="11060073" cy="54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Pipeline: Preprocessing &amp; Feature Engineering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9690" y="2205157"/>
            <a:ext cx="217753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 Steps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698" y="2633901"/>
            <a:ext cx="260152" cy="260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3451" y="2625328"/>
            <a:ext cx="521017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 duplicate and redundant records to reduce bias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698" y="3428286"/>
            <a:ext cx="260152" cy="260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3451" y="3419713"/>
            <a:ext cx="521017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 via median imputation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698" y="4222671"/>
            <a:ext cx="260152" cy="2601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93451" y="4214098"/>
            <a:ext cx="521017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Min-max normalize continuous features to [0,1]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698" y="5017056"/>
            <a:ext cx="260152" cy="2601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3451" y="5008483"/>
            <a:ext cx="521017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One-hot encode categorical attributes (protocol, service, flag)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698" y="5811441"/>
            <a:ext cx="260152" cy="2601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93451" y="5802868"/>
            <a:ext cx="521017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Stratified 80/20 train-test split preserving class balance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534394" y="2205157"/>
            <a:ext cx="222825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Engineered Features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7534394" y="2625328"/>
            <a:ext cx="2820591" cy="1531025"/>
          </a:xfrm>
          <a:prstGeom prst="roundRect">
            <a:avLst>
              <a:gd name="adj" fmla="val 475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7730728" y="2821662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src_bytes_rate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7730728" y="3225284"/>
            <a:ext cx="2427922" cy="73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 transmission rate — flags volumetric DoS patterns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10487620" y="2625328"/>
            <a:ext cx="2820710" cy="1531025"/>
          </a:xfrm>
          <a:prstGeom prst="roundRect">
            <a:avLst>
              <a:gd name="adj" fmla="val 475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10683954" y="2821662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dst_bytes_rate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0683954" y="3225284"/>
            <a:ext cx="2428042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Destination receive rate — identifies data exfiltration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534394" y="4288988"/>
            <a:ext cx="2820591" cy="1286113"/>
          </a:xfrm>
          <a:prstGeom prst="roundRect">
            <a:avLst>
              <a:gd name="adj" fmla="val 5666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730728" y="4485323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error_rate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730728" y="4888944"/>
            <a:ext cx="2427922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Connection error ratio — signals scanning and probing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10487620" y="4288988"/>
            <a:ext cx="2820710" cy="1286113"/>
          </a:xfrm>
          <a:prstGeom prst="roundRect">
            <a:avLst>
              <a:gd name="adj" fmla="val 5666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683954" y="4485323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privilege_escalation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10683954" y="4888944"/>
            <a:ext cx="2428042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Detects U2R attempts via system call anomalies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534394" y="5707737"/>
            <a:ext cx="5773936" cy="1041202"/>
          </a:xfrm>
          <a:prstGeom prst="roundRect">
            <a:avLst>
              <a:gd name="adj" fmla="val 699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730728" y="5904071"/>
            <a:ext cx="2540318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suspicious_login_attempt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7730728" y="6307693"/>
            <a:ext cx="5381268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Flags repeated failed authentication — R2L indicator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065"/>
            <a:ext cx="10212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Machine Learning Models Evaluated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18473"/>
            <a:ext cx="13042821" cy="3354943"/>
          </a:xfrm>
          <a:prstGeom prst="roundRect">
            <a:avLst>
              <a:gd name="adj" fmla="val 284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26093"/>
            <a:ext cx="4342448" cy="1669852"/>
          </a:xfrm>
          <a:prstGeom prst="roundRect">
            <a:avLst>
              <a:gd name="adj" fmla="val 5705"/>
            </a:avLst>
          </a:prstGeom>
          <a:solidFill>
            <a:srgbClr val="D2DDF9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743325"/>
            <a:ext cx="35486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of decision trees; robust to noise and overfitting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3857" y="3026093"/>
            <a:ext cx="4342567" cy="1669852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8" name="Shape 6"/>
          <p:cNvSpPr/>
          <p:nvPr/>
        </p:nvSpPr>
        <p:spPr>
          <a:xfrm>
            <a:off x="5143857" y="3026093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9" name="Text 7"/>
          <p:cNvSpPr/>
          <p:nvPr/>
        </p:nvSpPr>
        <p:spPr>
          <a:xfrm>
            <a:off x="571083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SVM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0833" y="3743325"/>
            <a:ext cx="320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Maximizes margin between classes; excellent specificity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860369" y="3577471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2054" y="3719155"/>
            <a:ext cx="283488" cy="2834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6424" y="3026093"/>
            <a:ext cx="4342567" cy="1669852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6424" y="3026093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3399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Neural Network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053399" y="3743325"/>
            <a:ext cx="35487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128→64→32 neurons, ReLU + Softmax; highest F1 overall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202936" y="3577471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620" y="3719155"/>
            <a:ext cx="283488" cy="283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1410" y="4695944"/>
            <a:ext cx="6513790" cy="1669852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20" name="Shape 16"/>
          <p:cNvSpPr/>
          <p:nvPr/>
        </p:nvSpPr>
        <p:spPr>
          <a:xfrm>
            <a:off x="801410" y="4695944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21" name="Text 17"/>
          <p:cNvSpPr/>
          <p:nvPr/>
        </p:nvSpPr>
        <p:spPr>
          <a:xfrm>
            <a:off x="102822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028224" y="5413177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Probabilistic baseline; interpretable and fast to train</a:t>
            </a:r>
            <a:endParaRPr lang="en-US" sz="1750" dirty="0"/>
          </a:p>
        </p:txBody>
      </p:sp>
      <p:sp>
        <p:nvSpPr>
          <p:cNvPr id="23" name="Shape 19"/>
          <p:cNvSpPr/>
          <p:nvPr/>
        </p:nvSpPr>
        <p:spPr>
          <a:xfrm>
            <a:off x="7315200" y="4695944"/>
            <a:ext cx="6513790" cy="1669852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24" name="Shape 20"/>
          <p:cNvSpPr/>
          <p:nvPr/>
        </p:nvSpPr>
        <p:spPr>
          <a:xfrm>
            <a:off x="7315200" y="4695944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25" name="Shape 21"/>
          <p:cNvSpPr/>
          <p:nvPr/>
        </p:nvSpPr>
        <p:spPr>
          <a:xfrm>
            <a:off x="7315200" y="4695944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26" name="Text 22"/>
          <p:cNvSpPr/>
          <p:nvPr/>
        </p:nvSpPr>
        <p:spPr>
          <a:xfrm>
            <a:off x="7882176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7882176" y="5413177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Probabilistic classifier assuming feature independence</a:t>
            </a:r>
            <a:endParaRPr lang="en-US" sz="1750" dirty="0"/>
          </a:p>
        </p:txBody>
      </p:sp>
      <p:sp>
        <p:nvSpPr>
          <p:cNvPr id="28" name="Shape 24"/>
          <p:cNvSpPr/>
          <p:nvPr/>
        </p:nvSpPr>
        <p:spPr>
          <a:xfrm>
            <a:off x="7031712" y="5247323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3397" y="5389007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7022" y="1023104"/>
            <a:ext cx="6356747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Performance Comparison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887022" y="1733074"/>
            <a:ext cx="10856238" cy="21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five classifiers were evaluated on accuracy, F1 score, and false positive rate. The Neural Network achieved the highest overall performance.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022" y="2282622"/>
            <a:ext cx="6918960" cy="37872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022" y="2282622"/>
            <a:ext cx="6918960" cy="37872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00674" y="2191583"/>
            <a:ext cx="3550087" cy="1141214"/>
          </a:xfrm>
          <a:prstGeom prst="roundRect">
            <a:avLst>
              <a:gd name="adj" fmla="val 9615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77814" y="2191583"/>
            <a:ext cx="91440" cy="1141214"/>
          </a:xfrm>
          <a:prstGeom prst="roundRect">
            <a:avLst>
              <a:gd name="adj" fmla="val 72268"/>
            </a:avLst>
          </a:prstGeom>
          <a:solidFill>
            <a:srgbClr val="1B54DA"/>
          </a:solidFill>
          <a:ln/>
        </p:spPr>
      </p:sp>
      <p:sp>
        <p:nvSpPr>
          <p:cNvPr id="8" name="Text 4"/>
          <p:cNvSpPr/>
          <p:nvPr/>
        </p:nvSpPr>
        <p:spPr>
          <a:xfrm>
            <a:off x="9449395" y="2371725"/>
            <a:ext cx="1966674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🏆</a:t>
            </a: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Neural Network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449395" y="2726650"/>
            <a:ext cx="3121223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98.8%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F1 Score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0.988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Best overall model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200674" y="3441859"/>
            <a:ext cx="3550087" cy="1141214"/>
          </a:xfrm>
          <a:prstGeom prst="roundRect">
            <a:avLst>
              <a:gd name="adj" fmla="val 9615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177814" y="3441859"/>
            <a:ext cx="91440" cy="1141214"/>
          </a:xfrm>
          <a:prstGeom prst="roundRect">
            <a:avLst>
              <a:gd name="adj" fmla="val 72268"/>
            </a:avLst>
          </a:prstGeom>
          <a:solidFill>
            <a:srgbClr val="1B54DA"/>
          </a:solidFill>
          <a:ln/>
        </p:spPr>
      </p:sp>
      <p:sp>
        <p:nvSpPr>
          <p:cNvPr id="12" name="Text 8"/>
          <p:cNvSpPr/>
          <p:nvPr/>
        </p:nvSpPr>
        <p:spPr>
          <a:xfrm>
            <a:off x="9449395" y="3622000"/>
            <a:ext cx="1966674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449395" y="3976926"/>
            <a:ext cx="3121223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98.5%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Highest stability across folds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200674" y="4692134"/>
            <a:ext cx="3550087" cy="1141214"/>
          </a:xfrm>
          <a:prstGeom prst="roundRect">
            <a:avLst>
              <a:gd name="adj" fmla="val 9615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77814" y="4692134"/>
            <a:ext cx="91440" cy="1141214"/>
          </a:xfrm>
          <a:prstGeom prst="roundRect">
            <a:avLst>
              <a:gd name="adj" fmla="val 72268"/>
            </a:avLst>
          </a:prstGeom>
          <a:solidFill>
            <a:srgbClr val="1B54DA"/>
          </a:solidFill>
          <a:ln/>
        </p:spPr>
      </p:sp>
      <p:sp>
        <p:nvSpPr>
          <p:cNvPr id="16" name="Text 12"/>
          <p:cNvSpPr/>
          <p:nvPr/>
        </p:nvSpPr>
        <p:spPr>
          <a:xfrm>
            <a:off x="9449395" y="4872276"/>
            <a:ext cx="1966674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SVM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449395" y="5227201"/>
            <a:ext cx="3121223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97.2%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Best specificity at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99.3%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200674" y="5942409"/>
            <a:ext cx="3550087" cy="1141214"/>
          </a:xfrm>
          <a:prstGeom prst="roundRect">
            <a:avLst>
              <a:gd name="adj" fmla="val 9615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77814" y="5942409"/>
            <a:ext cx="91440" cy="1141214"/>
          </a:xfrm>
          <a:prstGeom prst="roundRect">
            <a:avLst>
              <a:gd name="adj" fmla="val 72268"/>
            </a:avLst>
          </a:prstGeom>
          <a:solidFill>
            <a:srgbClr val="1B54DA"/>
          </a:solidFill>
          <a:ln/>
        </p:spPr>
      </p:sp>
      <p:sp>
        <p:nvSpPr>
          <p:cNvPr id="20" name="Text 16"/>
          <p:cNvSpPr/>
          <p:nvPr/>
        </p:nvSpPr>
        <p:spPr>
          <a:xfrm>
            <a:off x="9449395" y="6122551"/>
            <a:ext cx="2267545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Avg. False Positive Rate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9449395" y="6477476"/>
            <a:ext cx="3121223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</a:t>
            </a: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1.2%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all models — exceeds target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205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6495" y="2932628"/>
            <a:ext cx="6666905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Conclusions &amp; Future Directions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364813" y="3649147"/>
            <a:ext cx="5865852" cy="3759518"/>
          </a:xfrm>
          <a:prstGeom prst="roundRect">
            <a:avLst>
              <a:gd name="adj" fmla="val 3236"/>
            </a:avLst>
          </a:prstGeom>
          <a:solidFill>
            <a:srgbClr val="1B54DA"/>
          </a:solidFill>
          <a:ln/>
        </p:spPr>
      </p:sp>
      <p:sp>
        <p:nvSpPr>
          <p:cNvPr id="5" name="Text 2"/>
          <p:cNvSpPr/>
          <p:nvPr/>
        </p:nvSpPr>
        <p:spPr>
          <a:xfrm>
            <a:off x="1533644" y="3774877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We Achieved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533644" y="4273332"/>
            <a:ext cx="84415" cy="84415"/>
          </a:xfrm>
          <a:prstGeom prst="roundRect">
            <a:avLst>
              <a:gd name="adj" fmla="val 541610"/>
            </a:avLst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1743789" y="4180403"/>
            <a:ext cx="5318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ML-based IDS built and validated on NSL-KDD benchmark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533644" y="4760655"/>
            <a:ext cx="84415" cy="84415"/>
          </a:xfrm>
          <a:prstGeom prst="roundRect">
            <a:avLst>
              <a:gd name="adj" fmla="val 541610"/>
            </a:avLst>
          </a:prstGeom>
          <a:solidFill>
            <a:srgbClr val="1B54DA"/>
          </a:solidFill>
          <a:ln/>
        </p:spPr>
      </p:sp>
      <p:sp>
        <p:nvSpPr>
          <p:cNvPr id="9" name="Text 6"/>
          <p:cNvSpPr/>
          <p:nvPr/>
        </p:nvSpPr>
        <p:spPr>
          <a:xfrm>
            <a:off x="1743789" y="4667726"/>
            <a:ext cx="5318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Five algorithms benchmarked; Neural Network leads at 98.8%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33644" y="5247977"/>
            <a:ext cx="84415" cy="84415"/>
          </a:xfrm>
          <a:prstGeom prst="roundRect">
            <a:avLst>
              <a:gd name="adj" fmla="val 541610"/>
            </a:avLst>
          </a:prstGeom>
          <a:solidFill>
            <a:srgbClr val="1B54DA"/>
          </a:solidFill>
          <a:ln/>
        </p:spPr>
      </p:sp>
      <p:sp>
        <p:nvSpPr>
          <p:cNvPr id="11" name="Text 8"/>
          <p:cNvSpPr/>
          <p:nvPr/>
        </p:nvSpPr>
        <p:spPr>
          <a:xfrm>
            <a:off x="1743789" y="5155049"/>
            <a:ext cx="5318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False positive rate held to just 1.2% — operationally viable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533644" y="5735300"/>
            <a:ext cx="84415" cy="84415"/>
          </a:xfrm>
          <a:prstGeom prst="roundRect">
            <a:avLst>
              <a:gd name="adj" fmla="val 541610"/>
            </a:avLst>
          </a:prstGeom>
          <a:solidFill>
            <a:srgbClr val="1B54DA"/>
          </a:solidFill>
          <a:ln/>
        </p:spPr>
      </p:sp>
      <p:sp>
        <p:nvSpPr>
          <p:cNvPr id="13" name="Text 10"/>
          <p:cNvSpPr/>
          <p:nvPr/>
        </p:nvSpPr>
        <p:spPr>
          <a:xfrm>
            <a:off x="1743789" y="5642372"/>
            <a:ext cx="5318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Production-ready Flask + React dashboard with live alerts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28798" y="3774877"/>
            <a:ext cx="233886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Enhancements</a:t>
            </a:r>
            <a:endParaRPr lang="en-US" sz="16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798" y="4180403"/>
            <a:ext cx="422315" cy="4223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08394" y="4180403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Live Packet Capture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8108394" y="4570095"/>
            <a:ext cx="50428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real-time PCAP ingestion for production network environments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798" y="5293162"/>
            <a:ext cx="422315" cy="4223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8394" y="5293162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Explainable AI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108394" y="5682853"/>
            <a:ext cx="50428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SHAP-based explanations so analysts understand every decision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8798" y="6405920"/>
            <a:ext cx="422315" cy="4223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08394" y="6405920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Federated Learning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108394" y="6795611"/>
            <a:ext cx="504289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 across distributed nodes without centralizing sensitive traffic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909</Words>
  <Application>Microsoft Office PowerPoint</Application>
  <PresentationFormat>Custom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Nobile</vt:lpstr>
      <vt:lpstr>Times New Roman</vt:lpstr>
      <vt:lpstr>Alexandria Light</vt:lpstr>
      <vt:lpstr>Arial</vt:lpstr>
      <vt:lpstr>Alexandria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Sridevi M</cp:lastModifiedBy>
  <cp:revision>3</cp:revision>
  <dcterms:created xsi:type="dcterms:W3CDTF">2026-02-20T04:58:30Z</dcterms:created>
  <dcterms:modified xsi:type="dcterms:W3CDTF">2026-02-20T05:35:40Z</dcterms:modified>
</cp:coreProperties>
</file>